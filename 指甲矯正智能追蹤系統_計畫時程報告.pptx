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00F2FE"/>
                </a:solidFill>
                <a:latin typeface="Arial"/>
              </a:defRPr>
            </a:pPr>
            <a:r>
              <a:t>萬芳醫院 115 年度全人計畫 (創新研發組)</a:t>
            </a:r>
          </a:p>
          <a:p>
            <a:pPr>
              <a:spcAft>
                <a:spcPts val="1000"/>
              </a:spcAft>
              <a:defRPr sz="4000" b="1">
                <a:solidFill>
                  <a:srgbClr val="F0F3F8"/>
                </a:solidFill>
                <a:latin typeface="Arial"/>
              </a:defRPr>
            </a:pPr>
            <a:r>
              <a:t>指甲矯正智能追蹤衛教系統開發</a:t>
            </a:r>
          </a:p>
          <a:p>
            <a:pPr>
              <a:spcAft>
                <a:spcPts val="4000"/>
              </a:spcAft>
              <a:defRPr sz="2200">
                <a:solidFill>
                  <a:srgbClr val="9CA3AF"/>
                </a:solidFill>
                <a:latin typeface="Arial"/>
              </a:defRPr>
            </a:pPr>
            <a:r>
              <a:t>系統技術架構與工程開發時程規劃匯報</a:t>
            </a:r>
          </a:p>
          <a:p>
            <a:pPr>
              <a:defRPr sz="1400">
                <a:solidFill>
                  <a:srgbClr val="F0F3F8"/>
                </a:solidFill>
                <a:latin typeface="Arial"/>
              </a:defRPr>
            </a:pPr>
            <a:r>
              <a:t>計畫主持人：皮膚科 黃愉真 主任   |   報告人：系統開發團隊 (外包工程師)   |   期程：12個月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8"/>
                </a:solidFill>
                <a:latin typeface="Arial"/>
              </a:defRPr>
            </a:pPr>
            <a:r>
              <a:t>🛠️ 系統技術落實與 MVP 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2FE"/>
                </a:solidFill>
              </a:defRPr>
            </a:pPr>
            <a:r>
              <a:t>📱 LINE 官方帳號 × LIFF 前端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無縫身份與隱私綁定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病患首次加入時，透過簡訊或病歷號驗證綁定，將 LINE UID 與後台資料對齊，保障醫療個資。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LIFF 結構化表單與相機模組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調用網頁相機並重疊半透明的「指甲輪廓引導框」，引導病患拍出角度、距離一致的標準照片。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個人進度儀表板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病患可隨時查看歷史指甲照片縮圖及矯正進度，提升依從性與安心感。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855F7"/>
                </a:solidFill>
              </a:defRPr>
            </a:pPr>
            <a:r>
              <a:t>💻 雲端後台與 Gemini AI 智慧客服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Supabase 雲端資料庫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實作後台數據安全存取，醫生後台、LINE 聊天室與問卷數據即時同步。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Gemini API 智慧對答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整合大語言模型自動分析並回覆患者一般衛教諮詢，減輕客服人力；偵測到異常關鍵字時自動轉介。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三色燈號自動預警邏輯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🟢綠燈狀態穩定；🟡黃燈逾期自動催繳；🔴紅燈（依痛感 VAS 飆升或照片微移）即時警示。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8"/>
                </a:solidFill>
                <a:latin typeface="Arial"/>
              </a:defRPr>
            </a:pPr>
            <a:r>
              <a:t>📅 系統開發時程規劃 (12個月)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開發項目 / 執行月份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M6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M7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M8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M9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M10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M11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M12</a:t>
                      </a:r>
                    </a:p>
                  </a:txBody>
                  <a:tcPr>
                    <a:solidFill>
                      <a:srgbClr val="1C253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1. 需求訪談與系統分析 (SD)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B82F6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B82F6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B82F6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2. LINE LIFF 前端與相機開發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F2FE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F2FE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F2FE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3. Gemini AI 衛教助手開發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855F7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855F7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855F7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855F7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855F7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4. 後台 Dashboard 與燈號預警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9E0B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3F8"/>
                          </a:solidFill>
                        </a:defRPr>
                      </a:pPr>
                      <a:r>
                        <a:t>5. 系統測試、臨床回饋與優化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48056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2FE"/>
                </a:solidFill>
              </a:defRPr>
            </a:pPr>
            <a:r>
              <a:t>🚩 關鍵里程碑 (Milestones)</a:t>
            </a:r>
          </a:p>
          <a:p>
            <a:pPr>
              <a:defRPr sz="1300" b="1">
                <a:solidFill>
                  <a:srgbClr val="F0F3F8"/>
                </a:solidFill>
              </a:defRPr>
            </a:pPr>
            <a:r>
              <a:t>• M3 (SD定案): </a:t>
            </a:r>
            <a:r>
              <a:rPr sz="1200" b="0">
                <a:solidFill>
                  <a:srgbClr val="9CA3AF"/>
                </a:solidFill>
              </a:rPr>
              <a:t>完成系統規格書與資料庫欄位 Schema 設計定義。</a:t>
            </a:r>
          </a:p>
          <a:p>
            <a:pPr>
              <a:defRPr sz="1300" b="1">
                <a:solidFill>
                  <a:srgbClr val="F0F3F8"/>
                </a:solidFill>
              </a:defRPr>
            </a:pPr>
            <a:r>
              <a:t>• M6 (AI對答就緒): </a:t>
            </a:r>
            <a:r>
              <a:rPr sz="1200" b="0">
                <a:solidFill>
                  <a:srgbClr val="9CA3AF"/>
                </a:solidFill>
              </a:rPr>
              <a:t>對答測試與 API 串接完成，常見問答回覆成功率達 90%。</a:t>
            </a:r>
          </a:p>
          <a:p>
            <a:pPr>
              <a:defRPr sz="1300" b="1">
                <a:solidFill>
                  <a:srgbClr val="F0F3F8"/>
                </a:solidFill>
              </a:defRPr>
            </a:pPr>
            <a:r>
              <a:t>• M8 (系統部署上線): </a:t>
            </a:r>
            <a:r>
              <a:rPr sz="1200" b="0">
                <a:solidFill>
                  <a:srgbClr val="9CA3AF"/>
                </a:solidFill>
              </a:rPr>
              <a:t>前後端與 LINE 客服整合完畢，進入臨床上線 Demo 階段。</a:t>
            </a:r>
          </a:p>
          <a:p>
            <a:pPr>
              <a:defRPr sz="1300" b="1">
                <a:solidFill>
                  <a:srgbClr val="F0F3F8"/>
                </a:solidFill>
              </a:defRPr>
            </a:pPr>
            <a:r>
              <a:t>• M12 (系統移交): </a:t>
            </a:r>
            <a:r>
              <a:rPr sz="1200" b="0">
                <a:solidFill>
                  <a:srgbClr val="9CA3AF"/>
                </a:solidFill>
              </a:rPr>
              <a:t>完成系統原始碼、文檔交付，以及臨床團隊的教育訓練。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8"/>
                </a:solidFill>
                <a:latin typeface="Arial"/>
              </a:defRPr>
            </a:pPr>
            <a:r>
              <a:t>🤝 臨床端 (黃主任團隊) 關鍵配合事項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2FE"/>
                </a:solidFill>
              </a:defRPr>
            </a:pPr>
            <a:r>
              <a:t>📁 階段一 (M1-M3)：素材提供</a:t>
            </a:r>
          </a:p>
          <a:p>
            <a:pPr>
              <a:spcAft>
                <a:spcPts val="1000"/>
              </a:spcAft>
              <a:defRPr sz="1400">
                <a:solidFill>
                  <a:srgbClr val="F0F3F8"/>
                </a:solidFill>
              </a:defRPr>
            </a:pPr>
            <a:r>
              <a:t>▪ 問卷量表規格：確認 VAS 痛感及 questionnaire 各指標評分問卷內容。</a:t>
            </a:r>
          </a:p>
          <a:p>
            <a:pPr>
              <a:spcAft>
                <a:spcPts val="1000"/>
              </a:spcAft>
              <a:defRPr sz="1400">
                <a:solidFill>
                  <a:srgbClr val="F0F3F8"/>
                </a:solidFill>
              </a:defRPr>
            </a:pPr>
            <a:r>
              <a:t>▪ 衛教 FAQ 素材：收集 30-50 條常見患者術後/矯正期疑問，以訓練 AI 模型。</a:t>
            </a:r>
          </a:p>
          <a:p>
            <a:pPr>
              <a:spcAft>
                <a:spcPts val="1000"/>
              </a:spcAft>
              <a:defRPr sz="1400">
                <a:solidFill>
                  <a:srgbClr val="F0F3F8"/>
                </a:solidFill>
              </a:defRPr>
            </a:pPr>
            <a:r>
              <a:t>▪ 拍照標準示意圖：提供標準與非標準指甲拍照照片，做為引導相機的開發參考。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</a:defRPr>
            </a:pPr>
            <a:r>
              <a:t>🧪 階段二 (M4-M6)：系統調優</a:t>
            </a:r>
          </a:p>
          <a:p>
            <a:pPr>
              <a:spcAft>
                <a:spcPts val="1000"/>
              </a:spcAft>
              <a:defRPr sz="1400">
                <a:solidFill>
                  <a:srgbClr val="F0F3F8"/>
                </a:solidFill>
              </a:defRPr>
            </a:pPr>
            <a:r>
              <a:t>▪ 介面易用性測試：由診間護理人員進行測試，提供前端操作修改意見。</a:t>
            </a:r>
          </a:p>
          <a:p>
            <a:pPr>
              <a:spcAft>
                <a:spcPts val="1000"/>
              </a:spcAft>
              <a:defRPr sz="1400">
                <a:solidFill>
                  <a:srgbClr val="F0F3F8"/>
                </a:solidFill>
              </a:defRPr>
            </a:pPr>
            <a:r>
              <a:t>▪ AI 回覆內容校正：審查 Gemini 客服助理對答是否精準，防止醫學專業上的 AI 幻覺與語意誤差。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3716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🚀 階段三 (M9-M12)：門診試用</a:t>
            </a:r>
          </a:p>
          <a:p>
            <a:pPr>
              <a:spcAft>
                <a:spcPts val="1000"/>
              </a:spcAft>
              <a:defRPr sz="1400">
                <a:solidFill>
                  <a:srgbClr val="F0F3F8"/>
                </a:solidFill>
              </a:defRPr>
            </a:pPr>
            <a:r>
              <a:t>▪ 個案招募與綁定：於門診邀請指甲矯正病患加入 LINE 追蹤，目標 50 例以上。</a:t>
            </a:r>
          </a:p>
          <a:p>
            <a:pPr>
              <a:spcAft>
                <a:spcPts val="1000"/>
              </a:spcAft>
              <a:defRPr sz="1400">
                <a:solidFill>
                  <a:srgbClr val="F0F3F8"/>
                </a:solidFill>
              </a:defRPr>
            </a:pPr>
            <a:r>
              <a:t>▪ 後台體驗反饋：醫師對三色預警系統及病歷照片查看後台的使用流暢度提出反饋，協助開發團隊做最終調整。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3F8"/>
                </a:solidFill>
                <a:latin typeface="Arial"/>
              </a:defRPr>
            </a:pPr>
            <a:r>
              <a:t>🎁 預期交付物與專案效益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📦 系統交付物清單</a:t>
            </a:r>
          </a:p>
          <a:p>
            <a:pPr>
              <a:spcAft>
                <a:spcPts val="200"/>
              </a:spcAft>
              <a:defRPr sz="1500" b="1">
                <a:solidFill>
                  <a:srgbClr val="F0F3F8"/>
                </a:solidFill>
              </a:defRPr>
            </a:pPr>
            <a:r>
              <a:t>• LINE @ LIFF 應用程式</a:t>
            </a:r>
          </a:p>
          <a:p>
            <a:pPr>
              <a:spcAft>
                <a:spcPts val="800"/>
              </a:spcAft>
              <a:defRPr sz="1200">
                <a:solidFill>
                  <a:srgbClr val="9CA3AF"/>
                </a:solidFill>
              </a:defRPr>
            </a:pPr>
            <a:r>
              <a:t>簡訊驗證綁定模組、結構化問卷、引導式拍照與個人歷史進度儀表板。</a:t>
            </a:r>
          </a:p>
          <a:p>
            <a:pPr>
              <a:spcAft>
                <a:spcPts val="200"/>
              </a:spcAft>
              <a:defRPr sz="1500" b="1">
                <a:solidFill>
                  <a:srgbClr val="F0F3F8"/>
                </a:solidFill>
              </a:defRPr>
            </a:pPr>
            <a:r>
              <a:t>• 醫師後台 Dashboard</a:t>
            </a:r>
          </a:p>
          <a:p>
            <a:pPr>
              <a:spcAft>
                <a:spcPts val="800"/>
              </a:spcAft>
              <a:defRPr sz="1200">
                <a:solidFill>
                  <a:srgbClr val="9CA3AF"/>
                </a:solidFill>
              </a:defRPr>
            </a:pPr>
            <a:r>
              <a:t>三色預警判定與一覽表、患者照片時間軸與疼痛走勢圖。</a:t>
            </a:r>
          </a:p>
          <a:p>
            <a:pPr>
              <a:spcAft>
                <a:spcPts val="200"/>
              </a:spcAft>
              <a:defRPr sz="1500" b="1">
                <a:solidFill>
                  <a:srgbClr val="F0F3F8"/>
                </a:solidFill>
              </a:defRPr>
            </a:pPr>
            <a:r>
              <a:t>• Gemini AI 客服機器人</a:t>
            </a:r>
          </a:p>
          <a:p>
            <a:pPr>
              <a:spcAft>
                <a:spcPts val="800"/>
              </a:spcAft>
              <a:defRPr sz="1200">
                <a:solidFill>
                  <a:srgbClr val="9CA3AF"/>
                </a:solidFill>
              </a:defRPr>
            </a:pPr>
            <a:r>
              <a:t>串接 LINE 訊息的自動問答模組與 Prompt 提示詞設定檔。</a:t>
            </a:r>
          </a:p>
          <a:p>
            <a:pPr>
              <a:spcAft>
                <a:spcPts val="200"/>
              </a:spcAft>
              <a:defRPr sz="1500" b="1">
                <a:solidFill>
                  <a:srgbClr val="F0F3F8"/>
                </a:solidFill>
              </a:defRPr>
            </a:pPr>
            <a:r>
              <a:t>• 專案技術文檔與原始碼</a:t>
            </a:r>
          </a:p>
          <a:p>
            <a:pPr>
              <a:spcAft>
                <a:spcPts val="800"/>
              </a:spcAft>
              <a:defRPr sz="1200">
                <a:solidFill>
                  <a:srgbClr val="9CA3AF"/>
                </a:solidFill>
              </a:defRPr>
            </a:pPr>
            <a:r>
              <a:t>包含系統規格書、API 文檔、移交手冊與全套系統原始碼。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855F7"/>
                </a:solidFill>
              </a:defRPr>
            </a:pPr>
            <a:r>
              <a:t>💡 對本計畫全人評鑑之加分效益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醫療服務之創新性加分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結合最新生成式 AI (Gemini) 與追蹤系統，高度契合全人計畫中「創新醫療照護模式」與「科技媒體運用」指標。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結案量化數據一鍵生成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系統自動收集「病患照片回傳率」、「VAS 疼痛下降曲線」，直接匯出圖表，便於黃主任撰寫結案報告。</a:t>
            </a:r>
          </a:p>
          <a:p>
            <a:pPr>
              <a:spcAft>
                <a:spcPts val="400"/>
              </a:spcAft>
              <a:defRPr sz="1600" b="1">
                <a:solidFill>
                  <a:srgbClr val="F0F3F8"/>
                </a:solidFill>
              </a:defRPr>
            </a:pPr>
            <a:r>
              <a:t>• 系統之高複製性</a:t>
            </a:r>
          </a:p>
          <a:p>
            <a:pPr>
              <a:spcAft>
                <a:spcPts val="1200"/>
              </a:spcAft>
              <a:defRPr sz="1200">
                <a:solidFill>
                  <a:srgbClr val="9CA3AF"/>
                </a:solidFill>
              </a:defRPr>
            </a:pPr>
            <a:r>
              <a:t>底層架構可延伸至「異位性皮膚炎」、「乾癬」等需長期照護追蹤之皮膚科門診疾病。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